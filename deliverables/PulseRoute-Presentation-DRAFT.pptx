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project and state the evidence boundary immediately. The application is implemented in source and compiled, but current native execution is blocked by Smart App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describe compiled files as a fully tested application. Point to PROGRESS.md and the recorded evidence 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actual frontend screenshot. The bridge-unavailable banner is expected in browser-only verification and must not be hidden.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the screenshot is a frontend rendering. Live desktop file picker, cancellation and media playback still need approved runtime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There is no synthetic benchmark curve. The absence of data is intentional.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architecture diagram to explain separation of concerns.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Recent lifecycle fixes compile but still require race and runtime regression tests. Do not claim a leak-free soak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lost final acknowledgment can leave the sender uncertain even if the receiver has committed the file. Resume and crash reconciliation remain future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transport versus application responsibilities. Video-file transfer is not live video streaming.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Sequential probes, timing windows and loopback environment limit interpretation. Refer to ALGORITHMS.md for exact formulas.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imply file relay through the hub. Two-device validation remains outstanding.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Python SQL schema tests passed. The Go driver and restart workflow remain unverified under the execution block.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figures come from successful test assertions. No measured RTT/goodput series was exported; do not turn these counts into performance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event XML confirms policy attribution. Signed build review is separate from source correctness. SAC has no individual-app exception.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GitHub still returns 404 and no remote commit is claimed. License choice remains pending. This deck is an interim engineering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DEMO.md. If runtime approval is unavailable, present the source, screenshots and honest evidence boundary instead of pretending the live demo succeeded.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73152" cy="320040"/>
          </a:xfrm>
          <a:prstGeom prst="rect">
            <a:avLst/>
          </a:prstGeom>
          <a:solidFill>
            <a:srgbClr val="60E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60E2D2"/>
                </a:solidFill>
                <a:latin typeface="Segoe UI"/>
              </a:defRPr>
            </a:pPr>
            <a:r>
              <a:t>COMPUTER NETWORKS LABORATORY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87552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EDF3F8"/>
                </a:solidFill>
                <a:latin typeface="Segoe UI"/>
              </a:defRPr>
            </a:pPr>
            <a:r>
              <a:t>PulseRoute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2823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A7B6C9"/>
                </a:solidFill>
                <a:latin typeface="Segoe UI"/>
              </a:defRPr>
            </a:pPr>
            <a:r>
              <a:t>PULSEROUTE / 28 OCTOBER 2026 / ENGINEERING CHECKPOINT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A7B6C9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9875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4300" b="1">
                <a:solidFill>
                  <a:srgbClr val="EDF3F8"/>
                </a:solidFill>
                <a:latin typeface="Segoe UI"/>
              </a:defRPr>
            </a:pPr>
            <a:r>
              <a:t>Move files.</a:t>
            </a:r>
          </a:p>
          <a:p>
            <a:pPr>
              <a:spcAft>
                <a:spcPts val="1200"/>
              </a:spcAft>
              <a:defRPr sz="4300" b="1">
                <a:solidFill>
                  <a:srgbClr val="EDF3F8"/>
                </a:solidFill>
                <a:latin typeface="Segoe UI"/>
              </a:defRPr>
            </a:pPr>
            <a:r>
              <a:t>Understand the network.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892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A7B6C9"/>
                </a:solidFill>
                <a:latin typeface="Segoe UI"/>
              </a:defRPr>
            </a:pPr>
            <a:r>
              <a:t>Go + React + Wails + SQLite</a:t>
            </a:r>
          </a:p>
          <a:p>
            <a:pPr>
              <a:spcAft>
                <a:spcPts val="1200"/>
              </a:spcAft>
              <a:defRPr sz="2000" b="0">
                <a:solidFill>
                  <a:srgbClr val="A7B6C9"/>
                </a:solidFill>
                <a:latin typeface="Segoe UI"/>
              </a:defRPr>
            </a:pPr>
            <a:r>
              <a:t>Implementation, verification and the remaining 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73152" cy="320040"/>
          </a:xfrm>
          <a:prstGeom prst="rect">
            <a:avLst/>
          </a:prstGeom>
          <a:solidFill>
            <a:srgbClr val="60E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60E2D2"/>
                </a:solidFill>
                <a:latin typeface="Segoe UI"/>
              </a:defRPr>
            </a:pPr>
            <a:r>
              <a:t>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87552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EDF3F8"/>
                </a:solidFill>
                <a:latin typeface="Segoe UI"/>
              </a:defRPr>
            </a:pPr>
            <a:r>
              <a:t>What the evidence supports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2823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A7B6C9"/>
                </a:solidFill>
                <a:latin typeface="Segoe UI"/>
              </a:defRPr>
            </a:pPr>
            <a:r>
              <a:t>PULSEROUTE / 28 OCTOBER 2026 / ENGINEERING CHECKPOINT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A7B6C9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60E2D2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21408"/>
            <a:ext cx="100584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EDF3F8"/>
                </a:solidFill>
                <a:latin typeface="Segoe UI"/>
              </a:defRPr>
            </a:pPr>
            <a:r>
              <a:t>Earlier real loopback messaging and file-identity tests passed.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60E2D2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127248"/>
            <a:ext cx="100584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EDF3F8"/>
                </a:solidFill>
                <a:latin typeface="Segoe UI"/>
              </a:defRPr>
            </a:pPr>
            <a:r>
              <a:t>Current frontend, SQL schema and build checks pass.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062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60E2D2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133087"/>
            <a:ext cx="100584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EDF3F8"/>
                </a:solidFill>
                <a:latin typeface="Segoe UI"/>
              </a:defRPr>
            </a:pPr>
            <a:r>
              <a:t>Native runtime and LAN performance remain BLOCKED / NOT VERIFIED.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73152" cy="320040"/>
          </a:xfrm>
          <a:prstGeom prst="rect">
            <a:avLst/>
          </a:prstGeom>
          <a:solidFill>
            <a:srgbClr val="60E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60E2D2"/>
                </a:solidFill>
                <a:latin typeface="Segoe UI"/>
              </a:defRPr>
            </a:pPr>
            <a:r>
              <a:t>01 / FRONTEND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87552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EDF3F8"/>
                </a:solidFill>
                <a:latin typeface="Segoe UI"/>
              </a:defRPr>
            </a:pPr>
            <a:r>
              <a:t>A workspace built around the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2823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A7B6C9"/>
                </a:solidFill>
                <a:latin typeface="Segoe UI"/>
              </a:defRPr>
            </a:pPr>
            <a:r>
              <a:t>PULSEROUTE / 28 OCTOBER 2026 / ENGINEERING CHECKPOINT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A7B6C9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60E2D2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21408"/>
            <a:ext cx="45720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EDF3F8"/>
                </a:solidFill>
                <a:latin typeface="Segoe UI"/>
              </a:defRPr>
            </a:pPr>
            <a:r>
              <a:t>Six screens: overview, messages, transfers, lab, history, settings.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60E2D2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127248"/>
            <a:ext cx="45720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EDF3F8"/>
                </a:solidFill>
                <a:latin typeface="Segoe UI"/>
              </a:defRPr>
            </a:pPr>
            <a:r>
              <a:t>Desktop controls call exported Go service methods.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062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60E2D2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133087"/>
            <a:ext cx="45720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EDF3F8"/>
                </a:solidFill>
                <a:latin typeface="Segoe UI"/>
              </a:defRPr>
            </a:pPr>
            <a:r>
              <a:t>Dark/light styling, focus states and explicit errors.</a:t>
            </a:r>
          </a:p>
        </p:txBody>
      </p:sp>
      <p:pic>
        <p:nvPicPr>
          <p:cNvPr id="13" name="Picture 12" descr="frontend-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965960"/>
            <a:ext cx="457741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73152" cy="320040"/>
          </a:xfrm>
          <a:prstGeom prst="rect">
            <a:avLst/>
          </a:prstGeom>
          <a:solidFill>
            <a:srgbClr val="60E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60E2D2"/>
                </a:solidFill>
                <a:latin typeface="Segoe UI"/>
              </a:defRPr>
            </a:pPr>
            <a:r>
              <a:t>01 / FRONTEND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87552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EDF3F8"/>
                </a:solidFill>
                <a:latin typeface="Segoe UI"/>
              </a:defRPr>
            </a:pPr>
            <a:r>
              <a:t>Queue, observe,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2823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A7B6C9"/>
                </a:solidFill>
                <a:latin typeface="Segoe UI"/>
              </a:defRPr>
            </a:pPr>
            <a:r>
              <a:t>PULSEROUTE / 28 OCTOBER 2026 / ENGINEERING CHECKPOINT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A7B6C9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60E2D2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21408"/>
            <a:ext cx="45720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EDF3F8"/>
                </a:solidFill>
                <a:latin typeface="Segoe UI"/>
              </a:defRPr>
            </a:pPr>
            <a:r>
              <a:t>File picker and drop queue, then a destination endpoint.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60E2D2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127248"/>
            <a:ext cx="45720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EDF3F8"/>
                </a:solidFill>
                <a:latin typeface="Segoe UI"/>
              </a:defRPr>
            </a:pPr>
            <a:r>
              <a:t>Hashing, streaming, cancellation and final verification states.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062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60E2D2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133087"/>
            <a:ext cx="45720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EDF3F8"/>
                </a:solidFill>
                <a:latin typeface="Segoe UI"/>
              </a:defRPr>
            </a:pPr>
            <a:r>
              <a:t>Supported media preview; 16 MiB inline limit.</a:t>
            </a:r>
          </a:p>
        </p:txBody>
      </p:sp>
      <p:pic>
        <p:nvPicPr>
          <p:cNvPr id="13" name="Picture 12" descr="frontend-transf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965960"/>
            <a:ext cx="5029200" cy="37719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73152" cy="320040"/>
          </a:xfrm>
          <a:prstGeom prst="rect">
            <a:avLst/>
          </a:prstGeom>
          <a:solidFill>
            <a:srgbClr val="60E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60E2D2"/>
                </a:solidFill>
                <a:latin typeface="Segoe UI"/>
              </a:defRPr>
            </a:pPr>
            <a:r>
              <a:t>01 / FRONTEND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87552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EDF3F8"/>
                </a:solidFill>
                <a:latin typeface="Segoe UI"/>
              </a:defRPr>
            </a:pPr>
            <a:r>
              <a:t>Measure with clear boundaries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2823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A7B6C9"/>
                </a:solidFill>
                <a:latin typeface="Segoe UI"/>
              </a:defRPr>
            </a:pPr>
            <a:r>
              <a:t>PULSEROUTE / 28 OCTOBER 2026 / ENGINEERING CHECKPOINT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A7B6C9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60E2D2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21408"/>
            <a:ext cx="45720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EDF3F8"/>
                </a:solidFill>
                <a:latin typeface="Segoe UI"/>
              </a:defRPr>
            </a:pPr>
            <a:r>
              <a:t>TCP and UDP echo configuration share a laboratory view.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60E2D2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127248"/>
            <a:ext cx="45720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EDF3F8"/>
                </a:solidFill>
                <a:latin typeface="Segoe UI"/>
              </a:defRPr>
            </a:pPr>
            <a:r>
              <a:t>Charts render recorded samples only.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062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60E2D2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133087"/>
            <a:ext cx="45720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EDF3F8"/>
                </a:solidFill>
                <a:latin typeface="Segoe UI"/>
              </a:defRPr>
            </a:pPr>
            <a:r>
              <a:t>Export raw observations; empty charts remain empty.</a:t>
            </a:r>
          </a:p>
        </p:txBody>
      </p:sp>
      <p:pic>
        <p:nvPicPr>
          <p:cNvPr id="13" name="Picture 12" descr="frontend-network-l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965960"/>
            <a:ext cx="4816077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73152" cy="320040"/>
          </a:xfrm>
          <a:prstGeom prst="rect">
            <a:avLst/>
          </a:prstGeom>
          <a:solidFill>
            <a:srgbClr val="60E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60E2D2"/>
                </a:solidFill>
                <a:latin typeface="Segoe UI"/>
              </a:defRPr>
            </a:pPr>
            <a:r>
              <a:t>02 / 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87552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EDF3F8"/>
                </a:solidFill>
                <a:latin typeface="Segoe UI"/>
              </a:defRPr>
            </a:pPr>
            <a:r>
              <a:t>One service, separate engines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2823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A7B6C9"/>
                </a:solidFill>
                <a:latin typeface="Segoe UI"/>
              </a:defRPr>
            </a:pPr>
            <a:r>
              <a:t>PULSEROUTE / 28 OCTOBER 2026 / ENGINEERING CHECKPOINT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A7B6C9"/>
                </a:solidFill>
                <a:latin typeface="Segoe UI"/>
              </a:defRPr>
            </a:pPr>
            <a:r>
              <a:t>06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60904" y="2651760"/>
            <a:ext cx="713232" cy="0"/>
          </a:xfrm>
          <a:prstGeom prst="line">
            <a:avLst/>
          </a:prstGeom>
          <a:ln w="20320">
            <a:solidFill>
              <a:srgbClr val="60E2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194560" y="1755648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A7B6C9"/>
                </a:solidFill>
                <a:latin typeface="Segoe UI"/>
              </a:defRPr>
            </a:pPr>
            <a:r>
              <a:t>bound methods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586984" y="2651760"/>
            <a:ext cx="713232" cy="0"/>
          </a:xfrm>
          <a:prstGeom prst="line">
            <a:avLst/>
          </a:prstGeom>
          <a:ln w="20320">
            <a:solidFill>
              <a:srgbClr val="60E2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120640" y="1755648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A7B6C9"/>
                </a:solidFill>
                <a:latin typeface="Segoe UI"/>
              </a:defRPr>
            </a:pPr>
            <a:r>
              <a:t>commands / progress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178317" y="3218688"/>
            <a:ext cx="1530565" cy="1243584"/>
          </a:xfrm>
          <a:prstGeom prst="line">
            <a:avLst/>
          </a:prstGeom>
          <a:ln w="20320">
            <a:solidFill>
              <a:srgbClr val="60E2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120640" y="365760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A7B6C9"/>
                </a:solidFill>
                <a:latin typeface="Segoe UI"/>
              </a:defRPr>
            </a:pPr>
            <a:r>
              <a:t>experiments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480560" y="3218688"/>
            <a:ext cx="0" cy="1243584"/>
          </a:xfrm>
          <a:prstGeom prst="line">
            <a:avLst/>
          </a:prstGeom>
          <a:ln w="20320">
            <a:solidFill>
              <a:srgbClr val="60E2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657600" y="365760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A7B6C9"/>
                </a:solidFill>
                <a:latin typeface="Segoe UI"/>
              </a:defRPr>
            </a:pPr>
            <a:r>
              <a:t>records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513063" y="3101244"/>
            <a:ext cx="713233" cy="289751"/>
          </a:xfrm>
          <a:prstGeom prst="line">
            <a:avLst/>
          </a:prstGeom>
          <a:ln w="20320">
            <a:solidFill>
              <a:srgbClr val="60E2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046719" y="3063239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A7B6C9"/>
                </a:solidFill>
                <a:latin typeface="Segoe UI"/>
              </a:defRPr>
            </a:pPr>
            <a:r>
              <a:t>TCP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8513063" y="4289964"/>
            <a:ext cx="713233" cy="289751"/>
          </a:xfrm>
          <a:prstGeom prst="line">
            <a:avLst/>
          </a:prstGeom>
          <a:ln w="20320">
            <a:solidFill>
              <a:srgbClr val="60E2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046719" y="4251959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A7B6C9"/>
                </a:solidFill>
                <a:latin typeface="Segoe UI"/>
              </a:defRPr>
            </a:pPr>
            <a:r>
              <a:t>UDP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130552"/>
            <a:ext cx="2194560" cy="1042415"/>
          </a:xfrm>
          <a:prstGeom prst="roundRect">
            <a:avLst/>
          </a:prstGeom>
          <a:solidFill>
            <a:srgbClr val="152131"/>
          </a:solidFill>
          <a:ln>
            <a:solidFill>
              <a:srgbClr val="34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700">
                <a:solidFill>
                  <a:srgbClr val="EDF3F8"/>
                </a:solidFill>
                <a:latin typeface="Segoe UI"/>
              </a:defRPr>
            </a:pPr>
            <a:r>
              <a:t>React + TypeScript UI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83280" y="2130552"/>
            <a:ext cx="2194560" cy="1042415"/>
          </a:xfrm>
          <a:prstGeom prst="roundRect">
            <a:avLst/>
          </a:prstGeom>
          <a:solidFill>
            <a:srgbClr val="152131"/>
          </a:solidFill>
          <a:ln>
            <a:solidFill>
              <a:srgbClr val="34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700">
                <a:solidFill>
                  <a:srgbClr val="EDF3F8"/>
                </a:solidFill>
                <a:latin typeface="Segoe UI"/>
              </a:defRPr>
            </a:pPr>
            <a:r>
              <a:t>Wails service / lifecycle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59" y="2130552"/>
            <a:ext cx="2194560" cy="1042415"/>
          </a:xfrm>
          <a:prstGeom prst="roundRect">
            <a:avLst/>
          </a:prstGeom>
          <a:solidFill>
            <a:srgbClr val="152131"/>
          </a:solidFill>
          <a:ln>
            <a:solidFill>
              <a:srgbClr val="34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700">
                <a:solidFill>
                  <a:srgbClr val="EDF3F8"/>
                </a:solidFill>
                <a:latin typeface="Segoe UI"/>
              </a:defRPr>
            </a:pPr>
            <a:r>
              <a:t>TCP chat and file engine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59" y="4507992"/>
            <a:ext cx="2194560" cy="1042415"/>
          </a:xfrm>
          <a:prstGeom prst="roundRect">
            <a:avLst/>
          </a:prstGeom>
          <a:solidFill>
            <a:srgbClr val="152131"/>
          </a:solidFill>
          <a:ln>
            <a:solidFill>
              <a:srgbClr val="34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700">
                <a:solidFill>
                  <a:srgbClr val="EDF3F8"/>
                </a:solidFill>
                <a:latin typeface="Segoe UI"/>
              </a:defRPr>
            </a:pPr>
            <a:r>
              <a:t>UDP / discovery engines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83280" y="4507992"/>
            <a:ext cx="2194560" cy="1042415"/>
          </a:xfrm>
          <a:prstGeom prst="roundRect">
            <a:avLst/>
          </a:prstGeom>
          <a:solidFill>
            <a:srgbClr val="152131"/>
          </a:solidFill>
          <a:ln>
            <a:solidFill>
              <a:srgbClr val="34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700">
                <a:solidFill>
                  <a:srgbClr val="EDF3F8"/>
                </a:solidFill>
                <a:latin typeface="Segoe UI"/>
              </a:defRPr>
            </a:pPr>
            <a:r>
              <a:t>SQLite store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3319272"/>
            <a:ext cx="2194560" cy="1042415"/>
          </a:xfrm>
          <a:prstGeom prst="roundRect">
            <a:avLst/>
          </a:prstGeom>
          <a:solidFill>
            <a:srgbClr val="152131"/>
          </a:solidFill>
          <a:ln>
            <a:solidFill>
              <a:srgbClr val="34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700">
                <a:solidFill>
                  <a:srgbClr val="EDF3F8"/>
                </a:solidFill>
                <a:latin typeface="Segoe UI"/>
              </a:defRPr>
            </a:pPr>
            <a:r>
              <a:t>Remote peer or hub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608076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A7B6C9"/>
                </a:solidFill>
                <a:latin typeface="Segoe UI"/>
              </a:defRPr>
            </a:pPr>
            <a:r>
              <a:t>Editable implementation diagram. Verification limitations are recorded separately.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73152" cy="320040"/>
          </a:xfrm>
          <a:prstGeom prst="rect">
            <a:avLst/>
          </a:prstGeom>
          <a:solidFill>
            <a:srgbClr val="60E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60E2D2"/>
                </a:solidFill>
                <a:latin typeface="Segoe UI"/>
              </a:defRPr>
            </a:pPr>
            <a:r>
              <a:t>02 / 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87552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EDF3F8"/>
                </a:solidFill>
                <a:latin typeface="Segoe UI"/>
              </a:defRPr>
            </a:pPr>
            <a:r>
              <a:t>Concurrency that can shut 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2823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A7B6C9"/>
                </a:solidFill>
                <a:latin typeface="Segoe UI"/>
              </a:defRPr>
            </a:pPr>
            <a:r>
              <a:t>PULSEROUTE / 28 OCTOBER 2026 / ENGINEERING CHECKPOINT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A7B6C9"/>
                </a:solidFill>
                <a:latin typeface="Segoe UI"/>
              </a:defRPr>
            </a:pPr>
            <a: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60E2D2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21408"/>
            <a:ext cx="100584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EDF3F8"/>
                </a:solidFill>
                <a:latin typeface="Segoe UI"/>
              </a:defRPr>
            </a:pPr>
            <a:r>
              <a:t>At most 64 active TCP handlers and bounded frames.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60E2D2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127248"/>
            <a:ext cx="100584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EDF3F8"/>
                </a:solidFill>
                <a:latin typeface="Segoe UI"/>
              </a:defRPr>
            </a:pPr>
            <a:r>
              <a:t>Per-connection serialized writes, deadlines and heartbeat checks.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062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60E2D2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133087"/>
            <a:ext cx="100584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EDF3F8"/>
                </a:solidFill>
                <a:latin typeface="Segoe UI"/>
              </a:defRPr>
            </a:pPr>
            <a:r>
              <a:t>Shutdown cancels tracked work before closing the database.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73152" cy="320040"/>
          </a:xfrm>
          <a:prstGeom prst="rect">
            <a:avLst/>
          </a:prstGeom>
          <a:solidFill>
            <a:srgbClr val="60E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60E2D2"/>
                </a:solidFill>
                <a:latin typeface="Segoe UI"/>
              </a:defRPr>
            </a:pPr>
            <a:r>
              <a:t>02 / 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87552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EDF3F8"/>
                </a:solidFill>
                <a:latin typeface="Segoe UI"/>
              </a:defRPr>
            </a:pPr>
            <a:r>
              <a:t>Completion means verified content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2823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A7B6C9"/>
                </a:solidFill>
                <a:latin typeface="Segoe UI"/>
              </a:defRPr>
            </a:pPr>
            <a:r>
              <a:t>PULSEROUTE / 28 OCTOBER 2026 / ENGINEERING CHECKPOINT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A7B6C9"/>
                </a:solidFill>
                <a:latin typeface="Segoe UI"/>
              </a:defRPr>
            </a:pPr>
            <a: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659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60E2D2"/>
                </a:solidFill>
                <a:latin typeface="Segoe UI"/>
              </a:defRPr>
            </a:pPr>
            <a:r>
              <a:t>Sender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371600" y="2560320"/>
            <a:ext cx="0" cy="3291840"/>
          </a:xfrm>
          <a:prstGeom prst="line">
            <a:avLst/>
          </a:prstGeom>
          <a:ln>
            <a:solidFill>
              <a:srgbClr val="344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703320" y="19659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60E2D2"/>
                </a:solidFill>
                <a:latin typeface="Segoe UI"/>
              </a:defRPr>
            </a:pPr>
            <a:r>
              <a:t>Receiver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297680" y="2560320"/>
            <a:ext cx="0" cy="3291840"/>
          </a:xfrm>
          <a:prstGeom prst="line">
            <a:avLst/>
          </a:prstGeom>
          <a:ln>
            <a:solidFill>
              <a:srgbClr val="344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629400" y="19659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60E2D2"/>
                </a:solidFill>
                <a:latin typeface="Segoe UI"/>
              </a:defRPr>
            </a:pPr>
            <a:r>
              <a:t>Disk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223760" y="2560320"/>
            <a:ext cx="0" cy="3291840"/>
          </a:xfrm>
          <a:prstGeom prst="line">
            <a:avLst/>
          </a:prstGeom>
          <a:ln>
            <a:solidFill>
              <a:srgbClr val="344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555480" y="19659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60E2D2"/>
                </a:solidFill>
                <a:latin typeface="Segoe UI"/>
              </a:defRPr>
            </a:pPr>
            <a:r>
              <a:t>SQLite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149840" y="2560320"/>
            <a:ext cx="0" cy="3291840"/>
          </a:xfrm>
          <a:prstGeom prst="line">
            <a:avLst/>
          </a:prstGeom>
          <a:ln>
            <a:solidFill>
              <a:srgbClr val="344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371600" y="2743200"/>
            <a:ext cx="2926080" cy="0"/>
          </a:xfrm>
          <a:prstGeom prst="line">
            <a:avLst/>
          </a:prstGeom>
          <a:ln w="19050">
            <a:solidFill>
              <a:srgbClr val="60E2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463040" y="243230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EDF3F8"/>
                </a:solidFill>
                <a:latin typeface="Segoe UI"/>
              </a:defRPr>
            </a:pPr>
            <a:r>
              <a:t>put: ID, name, size, digest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1371600" y="3218688"/>
            <a:ext cx="2926080" cy="0"/>
          </a:xfrm>
          <a:prstGeom prst="line">
            <a:avLst/>
          </a:prstGeom>
          <a:ln w="19050">
            <a:solidFill>
              <a:srgbClr val="60E2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463040" y="290779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EDF3F8"/>
                </a:solidFill>
                <a:latin typeface="Segoe UI"/>
              </a:defRPr>
            </a:pPr>
            <a:r>
              <a:t>ready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371600" y="3694176"/>
            <a:ext cx="2926080" cy="0"/>
          </a:xfrm>
          <a:prstGeom prst="line">
            <a:avLst/>
          </a:prstGeom>
          <a:ln w="19050">
            <a:solidFill>
              <a:srgbClr val="60E2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463040" y="33832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EDF3F8"/>
                </a:solidFill>
                <a:latin typeface="Segoe UI"/>
              </a:defRPr>
            </a:pPr>
            <a:r>
              <a:t>chunks, then end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297680" y="4169664"/>
            <a:ext cx="2926080" cy="0"/>
          </a:xfrm>
          <a:prstGeom prst="line">
            <a:avLst/>
          </a:prstGeom>
          <a:ln w="19050">
            <a:solidFill>
              <a:srgbClr val="60E2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389120" y="385876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EDF3F8"/>
                </a:solidFill>
                <a:latin typeface="Segoe UI"/>
              </a:defRPr>
            </a:pPr>
            <a:r>
              <a:t>verify; sync and rename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297680" y="4645152"/>
            <a:ext cx="5852160" cy="0"/>
          </a:xfrm>
          <a:prstGeom prst="line">
            <a:avLst/>
          </a:prstGeom>
          <a:ln w="19050">
            <a:solidFill>
              <a:srgbClr val="60E2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389120" y="4334256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EDF3F8"/>
                </a:solidFill>
                <a:latin typeface="Segoe UI"/>
              </a:defRPr>
            </a:pPr>
            <a:r>
              <a:t>record completion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1371600" y="5120640"/>
            <a:ext cx="2926080" cy="0"/>
          </a:xfrm>
          <a:prstGeom prst="line">
            <a:avLst/>
          </a:prstGeom>
          <a:ln w="19050">
            <a:solidFill>
              <a:srgbClr val="60E2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463040" y="480974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EDF3F8"/>
                </a:solidFill>
                <a:latin typeface="Segoe UI"/>
              </a:defRPr>
            </a:pPr>
            <a:r>
              <a:t>complete: ID, size, digest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9436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A7B6C9"/>
                </a:solidFill>
                <a:latin typeface="Segoe UI"/>
              </a:defRPr>
            </a:pPr>
            <a:r>
              <a:t>Sender hashes first. Receiver checks content before committing. Full failure paths are in the report.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73152" cy="320040"/>
          </a:xfrm>
          <a:prstGeom prst="rect">
            <a:avLst/>
          </a:prstGeom>
          <a:solidFill>
            <a:srgbClr val="60E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60E2D2"/>
                </a:solidFill>
                <a:latin typeface="Segoe UI"/>
              </a:defRPr>
            </a:pPr>
            <a:r>
              <a:t>03 / ALGORITHMS AND NETWORKING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87552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EDF3F8"/>
                </a:solidFill>
                <a:latin typeface="Segoe UI"/>
              </a:defRPr>
            </a:pPr>
            <a:r>
              <a:t>TCP and UDP expose different guarantees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2823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A7B6C9"/>
                </a:solidFill>
                <a:latin typeface="Segoe UI"/>
              </a:defRPr>
            </a:pPr>
            <a:r>
              <a:t>PULSEROUTE / 28 OCTOBER 2026 / ENGINEERING CHECKPOINT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A7B6C9"/>
                </a:solidFill>
                <a:latin typeface="Segoe UI"/>
              </a:defRPr>
            </a:pPr>
            <a: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60E2D2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21408"/>
            <a:ext cx="100584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EDF3F8"/>
                </a:solidFill>
                <a:latin typeface="Segoe UI"/>
              </a:defRPr>
            </a:pPr>
            <a:r>
              <a:t>TCP is an ordered byte stream; PulseRoute adds framing.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60E2D2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127248"/>
            <a:ext cx="100584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EDF3F8"/>
                </a:solidFill>
                <a:latin typeface="Segoe UI"/>
              </a:defRPr>
            </a:pPr>
            <a:r>
              <a:t>UDP preserves datagram boundaries but may lose or reorder packets.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062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60E2D2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133087"/>
            <a:ext cx="100584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EDF3F8"/>
                </a:solidFill>
                <a:latin typeface="Segoe UI"/>
              </a:defRPr>
            </a:pPr>
            <a:r>
              <a:t>The OS owns TCP congestion control; no Reno/CUBIC implementation is claimed.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73152" cy="320040"/>
          </a:xfrm>
          <a:prstGeom prst="rect">
            <a:avLst/>
          </a:prstGeom>
          <a:solidFill>
            <a:srgbClr val="60E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60E2D2"/>
                </a:solidFill>
                <a:latin typeface="Segoe UI"/>
              </a:defRPr>
            </a:pPr>
            <a:r>
              <a:t>03 / ALGORITHMS AND NETWORKING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87552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EDF3F8"/>
                </a:solidFill>
                <a:latin typeface="Segoe UI"/>
              </a:defRPr>
            </a:pPr>
            <a:r>
              <a:t>Useful formulas, honest interpretation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2823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A7B6C9"/>
                </a:solidFill>
                <a:latin typeface="Segoe UI"/>
              </a:defRPr>
            </a:pPr>
            <a:r>
              <a:t>PULSEROUTE / 28 OCTOBER 2026 / ENGINEERING CHECKPOINT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A7B6C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60E2D2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21408"/>
            <a:ext cx="100584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EDF3F8"/>
                </a:solidFill>
                <a:latin typeface="Segoe UI"/>
              </a:defRPr>
            </a:pPr>
            <a:r>
              <a:t>RTT = receive time - send time; loss uses unique replies.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60E2D2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127248"/>
            <a:ext cx="100584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EDF3F8"/>
                </a:solidFill>
                <a:latin typeface="Segoe UI"/>
              </a:defRPr>
            </a:pPr>
            <a:r>
              <a:t>RTT variation is smoothed with a 1/16 update factor.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062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60E2D2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133087"/>
            <a:ext cx="100584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EDF3F8"/>
                </a:solidFill>
                <a:latin typeface="Segoe UI"/>
              </a:defRPr>
            </a:pPr>
            <a:r>
              <a:t>Echo goodput is payload/time, not saturated link capacity.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73152" cy="320040"/>
          </a:xfrm>
          <a:prstGeom prst="rect">
            <a:avLst/>
          </a:prstGeom>
          <a:solidFill>
            <a:srgbClr val="60E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60E2D2"/>
                </a:solidFill>
                <a:latin typeface="Segoe UI"/>
              </a:defRPr>
            </a:pPr>
            <a:r>
              <a:t>03 / ALGORITHMS AND NETWORKING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87552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EDF3F8"/>
                </a:solidFill>
                <a:latin typeface="Segoe UI"/>
              </a:defRPr>
            </a:pPr>
            <a:r>
              <a:t>Direct LAN versus chat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2823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A7B6C9"/>
                </a:solidFill>
                <a:latin typeface="Segoe UI"/>
              </a:defRPr>
            </a:pPr>
            <a:r>
              <a:t>PULSEROUTE / 28 OCTOBER 2026 / ENGINEERING CHECKPOINT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A7B6C9"/>
                </a:solidFill>
                <a:latin typeface="Segoe UI"/>
              </a:defRPr>
            </a:pPr>
            <a:r>
              <a:t>11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52344" y="2743200"/>
            <a:ext cx="2176272" cy="0"/>
          </a:xfrm>
          <a:prstGeom prst="line">
            <a:avLst/>
          </a:prstGeom>
          <a:ln w="20320">
            <a:solidFill>
              <a:srgbClr val="60E2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017520" y="1847088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A7B6C9"/>
                </a:solidFill>
                <a:latin typeface="Segoe UI"/>
              </a:defRPr>
            </a:pPr>
            <a:r>
              <a:t>chat TCP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7141464" y="2743200"/>
            <a:ext cx="2084832" cy="0"/>
          </a:xfrm>
          <a:prstGeom prst="line">
            <a:avLst/>
          </a:prstGeom>
          <a:ln w="20320">
            <a:solidFill>
              <a:srgbClr val="60E2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60919" y="1847088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A7B6C9"/>
                </a:solidFill>
                <a:latin typeface="Segoe UI"/>
              </a:defRPr>
            </a:pPr>
            <a:r>
              <a:t>chat TCP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165604" y="3310128"/>
            <a:ext cx="972312" cy="1060704"/>
          </a:xfrm>
          <a:prstGeom prst="line">
            <a:avLst/>
          </a:prstGeom>
          <a:ln w="20320">
            <a:solidFill>
              <a:srgbClr val="60E2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828800" y="365760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A7B6C9"/>
                </a:solidFill>
                <a:latin typeface="Segoe UI"/>
              </a:defRPr>
            </a:pPr>
            <a:r>
              <a:t>direct file TCP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52344" y="3092597"/>
            <a:ext cx="4736592" cy="1495765"/>
          </a:xfrm>
          <a:prstGeom prst="line">
            <a:avLst/>
          </a:prstGeom>
          <a:ln w="20320">
            <a:solidFill>
              <a:srgbClr val="60E2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297680" y="365760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A7B6C9"/>
                </a:solidFill>
                <a:latin typeface="Segoe UI"/>
              </a:defRPr>
            </a:pPr>
            <a:r>
              <a:t>UDP probes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221992"/>
            <a:ext cx="2194560" cy="1042415"/>
          </a:xfrm>
          <a:prstGeom prst="roundRect">
            <a:avLst/>
          </a:prstGeom>
          <a:solidFill>
            <a:srgbClr val="152131"/>
          </a:solidFill>
          <a:ln>
            <a:solidFill>
              <a:srgbClr val="34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700">
                <a:solidFill>
                  <a:srgbClr val="EDF3F8"/>
                </a:solidFill>
                <a:latin typeface="Segoe UI"/>
              </a:defRPr>
            </a:pPr>
            <a:r>
              <a:t>Client 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37759" y="2221992"/>
            <a:ext cx="2194560" cy="1042415"/>
          </a:xfrm>
          <a:prstGeom prst="roundRect">
            <a:avLst/>
          </a:prstGeom>
          <a:solidFill>
            <a:srgbClr val="152131"/>
          </a:solidFill>
          <a:ln>
            <a:solidFill>
              <a:srgbClr val="34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700">
                <a:solidFill>
                  <a:srgbClr val="EDF3F8"/>
                </a:solidFill>
                <a:latin typeface="Segoe UI"/>
              </a:defRPr>
            </a:pPr>
            <a:r>
              <a:t>TCP chat hub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2221992"/>
            <a:ext cx="2194560" cy="1042415"/>
          </a:xfrm>
          <a:prstGeom prst="roundRect">
            <a:avLst/>
          </a:prstGeom>
          <a:solidFill>
            <a:srgbClr val="152131"/>
          </a:solidFill>
          <a:ln>
            <a:solidFill>
              <a:srgbClr val="34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700">
                <a:solidFill>
                  <a:srgbClr val="EDF3F8"/>
                </a:solidFill>
                <a:latin typeface="Segoe UI"/>
              </a:defRPr>
            </a:pPr>
            <a:r>
              <a:t>Client 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60320" y="4416552"/>
            <a:ext cx="2194560" cy="1042415"/>
          </a:xfrm>
          <a:prstGeom prst="roundRect">
            <a:avLst/>
          </a:prstGeom>
          <a:solidFill>
            <a:srgbClr val="152131"/>
          </a:solidFill>
          <a:ln>
            <a:solidFill>
              <a:srgbClr val="34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700">
                <a:solidFill>
                  <a:srgbClr val="EDF3F8"/>
                </a:solidFill>
                <a:latin typeface="Segoe UI"/>
              </a:defRPr>
            </a:pPr>
            <a:r>
              <a:t>Direct receiver on 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0" y="4416552"/>
            <a:ext cx="2194560" cy="1042415"/>
          </a:xfrm>
          <a:prstGeom prst="roundRect">
            <a:avLst/>
          </a:prstGeom>
          <a:solidFill>
            <a:srgbClr val="152131"/>
          </a:solidFill>
          <a:ln>
            <a:solidFill>
              <a:srgbClr val="34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700">
                <a:solidFill>
                  <a:srgbClr val="EDF3F8"/>
                </a:solidFill>
                <a:latin typeface="Segoe UI"/>
              </a:defRPr>
            </a:pPr>
            <a:r>
              <a:t>UDP echo endpoint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608076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A7B6C9"/>
                </a:solidFill>
                <a:latin typeface="Segoe UI"/>
              </a:defRPr>
            </a:pPr>
            <a:r>
              <a:t>Editable implementation diagram. Verification limitations are recorded separately.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73152" cy="320040"/>
          </a:xfrm>
          <a:prstGeom prst="rect">
            <a:avLst/>
          </a:prstGeom>
          <a:solidFill>
            <a:srgbClr val="60E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60E2D2"/>
                </a:solidFill>
                <a:latin typeface="Segoe UI"/>
              </a:defRPr>
            </a:pPr>
            <a:r>
              <a:t>04 / DATABASE AND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87552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EDF3F8"/>
                </a:solidFill>
                <a:latin typeface="Segoe UI"/>
              </a:defRPr>
            </a:pPr>
            <a:r>
              <a:t>Local, versioned persistence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2823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A7B6C9"/>
                </a:solidFill>
                <a:latin typeface="Segoe UI"/>
              </a:defRPr>
            </a:pPr>
            <a:r>
              <a:t>PULSEROUTE / 28 OCTOBER 2026 / ENGINEERING CHECKPOINT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A7B6C9"/>
                </a:solidFill>
                <a:latin typeface="Segoe UI"/>
              </a:defRPr>
            </a:pPr>
            <a:r>
              <a:t>12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398264" y="5074920"/>
            <a:ext cx="2907791" cy="0"/>
          </a:xfrm>
          <a:prstGeom prst="line">
            <a:avLst/>
          </a:prstGeom>
          <a:ln w="20320">
            <a:solidFill>
              <a:srgbClr val="60E2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199" y="4178808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A7B6C9"/>
                </a:solidFill>
                <a:latin typeface="Segoe UI"/>
              </a:defRPr>
            </a:pPr>
            <a:r>
              <a:t>1 to many / foreign key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13432"/>
            <a:ext cx="2194560" cy="1042415"/>
          </a:xfrm>
          <a:prstGeom prst="roundRect">
            <a:avLst/>
          </a:prstGeom>
          <a:solidFill>
            <a:srgbClr val="152131"/>
          </a:solidFill>
          <a:ln>
            <a:solidFill>
              <a:srgbClr val="34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300">
                <a:solidFill>
                  <a:srgbClr val="EDF3F8"/>
                </a:solidFill>
                <a:latin typeface="Segoe UI"/>
              </a:defRPr>
            </a:pPr>
            <a:r>
              <a:t>settings</a:t>
            </a:r>
          </a:p>
          <a:p>
            <a:pPr algn="ctr">
              <a:defRPr sz="1300">
                <a:solidFill>
                  <a:srgbClr val="EDF3F8"/>
                </a:solidFill>
                <a:latin typeface="Segoe UI"/>
              </a:defRPr>
            </a:pPr>
            <a:r>
              <a:t>PK key / value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59" y="2313432"/>
            <a:ext cx="2194560" cy="1042415"/>
          </a:xfrm>
          <a:prstGeom prst="roundRect">
            <a:avLst/>
          </a:prstGeom>
          <a:solidFill>
            <a:srgbClr val="152131"/>
          </a:solidFill>
          <a:ln>
            <a:solidFill>
              <a:srgbClr val="34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300">
                <a:solidFill>
                  <a:srgbClr val="EDF3F8"/>
                </a:solidFill>
                <a:latin typeface="Segoe UI"/>
              </a:defRPr>
            </a:pPr>
            <a:r>
              <a:t>peers</a:t>
            </a:r>
          </a:p>
          <a:p>
            <a:pPr algn="ctr">
              <a:defRPr sz="1300">
                <a:solidFill>
                  <a:srgbClr val="EDF3F8"/>
                </a:solidFill>
                <a:latin typeface="Segoe UI"/>
              </a:defRPr>
            </a:pPr>
            <a:r>
              <a:t>PK address / name / last_seen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0" y="2313432"/>
            <a:ext cx="2194560" cy="1042415"/>
          </a:xfrm>
          <a:prstGeom prst="roundRect">
            <a:avLst/>
          </a:prstGeom>
          <a:solidFill>
            <a:srgbClr val="152131"/>
          </a:solidFill>
          <a:ln>
            <a:solidFill>
              <a:srgbClr val="34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300">
                <a:solidFill>
                  <a:srgbClr val="EDF3F8"/>
                </a:solidFill>
                <a:latin typeface="Segoe UI"/>
              </a:defRPr>
            </a:pPr>
            <a:r>
              <a:t>events</a:t>
            </a:r>
          </a:p>
          <a:p>
            <a:pPr algn="ctr">
              <a:defRPr sz="1300">
                <a:solidFill>
                  <a:srgbClr val="EDF3F8"/>
                </a:solidFill>
                <a:latin typeface="Segoe UI"/>
              </a:defRPr>
            </a:pPr>
            <a:r>
              <a:t>PK seq / kind / reference_id</a:t>
            </a:r>
          </a:p>
          <a:p>
            <a:pPr algn="ctr">
              <a:defRPr sz="1300">
                <a:solidFill>
                  <a:srgbClr val="EDF3F8"/>
                </a:solidFill>
                <a:latin typeface="Segoe UI"/>
              </a:defRPr>
            </a:pPr>
            <a:r>
              <a:t>created_at / payload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94560" y="4553712"/>
            <a:ext cx="2194560" cy="1042415"/>
          </a:xfrm>
          <a:prstGeom prst="roundRect">
            <a:avLst/>
          </a:prstGeom>
          <a:solidFill>
            <a:srgbClr val="152131"/>
          </a:solidFill>
          <a:ln>
            <a:solidFill>
              <a:srgbClr val="34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300">
                <a:solidFill>
                  <a:srgbClr val="EDF3F8"/>
                </a:solidFill>
                <a:latin typeface="Segoe UI"/>
              </a:defRPr>
            </a:pPr>
            <a:r>
              <a:t>benchmark_sessions</a:t>
            </a:r>
          </a:p>
          <a:p>
            <a:pPr algn="ctr">
              <a:defRPr sz="1300">
                <a:solidFill>
                  <a:srgbClr val="EDF3F8"/>
                </a:solidFill>
                <a:latin typeface="Segoe UI"/>
              </a:defRPr>
            </a:pPr>
            <a:r>
              <a:t>PK id / protocol / address</a:t>
            </a:r>
          </a:p>
          <a:p>
            <a:pPr algn="ctr">
              <a:defRPr sz="1300">
                <a:solidFill>
                  <a:srgbClr val="EDF3F8"/>
                </a:solidFill>
                <a:latin typeface="Segoe UI"/>
              </a:defRPr>
            </a:pPr>
            <a:r>
              <a:t>created_at / result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199" y="4553712"/>
            <a:ext cx="2194560" cy="1042415"/>
          </a:xfrm>
          <a:prstGeom prst="roundRect">
            <a:avLst/>
          </a:prstGeom>
          <a:solidFill>
            <a:srgbClr val="152131"/>
          </a:solidFill>
          <a:ln>
            <a:solidFill>
              <a:srgbClr val="34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300">
                <a:solidFill>
                  <a:srgbClr val="EDF3F8"/>
                </a:solidFill>
                <a:latin typeface="Segoe UI"/>
              </a:defRPr>
            </a:pPr>
            <a:r>
              <a:t>benchmark_measurements</a:t>
            </a:r>
          </a:p>
          <a:p>
            <a:pPr algn="ctr">
              <a:defRPr sz="1300">
                <a:solidFill>
                  <a:srgbClr val="EDF3F8"/>
                </a:solidFill>
                <a:latin typeface="Segoe UI"/>
              </a:defRPr>
            </a:pPr>
            <a:r>
              <a:t>PK session_id + sequence</a:t>
            </a:r>
          </a:p>
          <a:p>
            <a:pPr algn="ctr">
              <a:defRPr sz="1300">
                <a:solidFill>
                  <a:srgbClr val="EDF3F8"/>
                </a:solidFill>
                <a:latin typeface="Segoe UI"/>
              </a:defRPr>
            </a:pPr>
            <a:r>
              <a:t>FK session_id / payload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08076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A7B6C9"/>
                </a:solidFill>
                <a:latin typeface="Segoe UI"/>
              </a:defRPr>
            </a:pPr>
            <a:r>
              <a:t>Editable implementation diagram. Verification limitations are recorded separately.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73152" cy="320040"/>
          </a:xfrm>
          <a:prstGeom prst="rect">
            <a:avLst/>
          </a:prstGeom>
          <a:solidFill>
            <a:srgbClr val="60E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60E2D2"/>
                </a:solidFill>
                <a:latin typeface="Segoe UI"/>
              </a:defRPr>
            </a:pPr>
            <a:r>
              <a:t>04 / DATABASE AND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87552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EDF3F8"/>
                </a:solidFill>
                <a:latin typeface="Segoe UI"/>
              </a:defRPr>
            </a:pPr>
            <a:r>
              <a:t>Observed correctness, not a speed claim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2823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A7B6C9"/>
                </a:solidFill>
                <a:latin typeface="Segoe UI"/>
              </a:defRPr>
            </a:pPr>
            <a:r>
              <a:t>PULSEROUTE / 28 OCTOBER 2026 / ENGINEERING CHECKPOINT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A7B6C9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60E2D2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21408"/>
            <a:ext cx="100584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EDF3F8"/>
                </a:solidFill>
                <a:latin typeface="Segoe UI"/>
              </a:defRPr>
            </a:pPr>
            <a:r>
              <a:t>8 clients in the earlier messaging integration test.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60E2D2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127248"/>
            <a:ext cx="100584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EDF3F8"/>
                </a:solidFill>
                <a:latin typeface="Segoe UI"/>
              </a:defRPr>
            </a:pPr>
            <a:r>
              <a:t>0 B, 1 B, 65,537 B and 16 MiB files verified twice each.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062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60E2D2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133087"/>
            <a:ext cx="100584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EDF3F8"/>
                </a:solidFill>
                <a:latin typeface="Segoe UI"/>
              </a:defRPr>
            </a:pPr>
            <a:r>
              <a:t>20/20 TCP and UDP loopback echoes in the earlier test.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73152" cy="320040"/>
          </a:xfrm>
          <a:prstGeom prst="rect">
            <a:avLst/>
          </a:prstGeom>
          <a:solidFill>
            <a:srgbClr val="60E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60E2D2"/>
                </a:solidFill>
                <a:latin typeface="Segoe UI"/>
              </a:defRPr>
            </a:pPr>
            <a:r>
              <a:t>04 / DATABASE AND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87552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EDF3F8"/>
                </a:solidFill>
                <a:latin typeface="Segoe UI"/>
              </a:defRPr>
            </a:pPr>
            <a:r>
              <a:t>The execution blocker is identified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2823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A7B6C9"/>
                </a:solidFill>
                <a:latin typeface="Segoe UI"/>
              </a:defRPr>
            </a:pPr>
            <a:r>
              <a:t>PULSEROUTE / 28 OCTOBER 2026 / ENGINEERING CHECKPOINT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A7B6C9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60E2D2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21408"/>
            <a:ext cx="100584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EDF3F8"/>
                </a:solidFill>
                <a:latin typeface="Segoe UI"/>
              </a:defRPr>
            </a:pPr>
            <a:r>
              <a:t>Code Integrity event 3077, records 14737 and 14722.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60E2D2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127248"/>
            <a:ext cx="100584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EDF3F8"/>
                </a:solidFill>
                <a:latin typeface="Segoe UI"/>
              </a:defRPr>
            </a:pPr>
            <a:r>
              <a:t>Policy: VerifiedAndReputableDesktop / Smart App Control.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062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60E2D2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133087"/>
            <a:ext cx="100584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EDF3F8"/>
                </a:solidFill>
                <a:latin typeface="Segoe UI"/>
              </a:defRPr>
            </a:pPr>
            <a:r>
              <a:t>No security controls changed; code signing or an approved test environment is needed.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73152" cy="320040"/>
          </a:xfrm>
          <a:prstGeom prst="rect">
            <a:avLst/>
          </a:prstGeom>
          <a:solidFill>
            <a:srgbClr val="60E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60E2D2"/>
                </a:solidFill>
                <a:latin typeface="Segoe UI"/>
              </a:defRPr>
            </a:pPr>
            <a:r>
              <a:t>REMAINING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87552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EDF3F8"/>
                </a:solidFill>
                <a:latin typeface="Segoe UI"/>
              </a:defRPr>
            </a:pPr>
            <a:r>
              <a:t>The next verification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2823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A7B6C9"/>
                </a:solidFill>
                <a:latin typeface="Segoe UI"/>
              </a:defRPr>
            </a:pPr>
            <a:r>
              <a:t>PULSEROUTE / 28 OCTOBER 2026 / ENGINEERING CHECKPOINT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A7B6C9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60E2D2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21408"/>
            <a:ext cx="100584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EDF3F8"/>
                </a:solidFill>
                <a:latin typeface="Segoe UI"/>
              </a:defRPr>
            </a:pPr>
            <a:r>
              <a:t>Run the current Go suite, race checks and desktop workflows.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60E2D2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127248"/>
            <a:ext cx="100584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EDF3F8"/>
                </a:solidFill>
                <a:latin typeface="Segoe UI"/>
              </a:defRPr>
            </a:pPr>
            <a:r>
              <a:t>Test two Windows devices and export repeatable raw benchmarks.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062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60E2D2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133087"/>
            <a:ext cx="100584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EDF3F8"/>
                </a:solidFill>
                <a:latin typeface="Segoe UI"/>
              </a:defRPr>
            </a:pPr>
            <a:r>
              <a:t>Complete hub file distribution, recovery and final review.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73152" cy="320040"/>
          </a:xfrm>
          <a:prstGeom prst="rect">
            <a:avLst/>
          </a:prstGeom>
          <a:solidFill>
            <a:srgbClr val="60E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60E2D2"/>
                </a:solidFill>
                <a:latin typeface="Segoe UI"/>
              </a:defRPr>
            </a:pPr>
            <a:r>
              <a:t>REHEARSAL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87552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EDF3F8"/>
                </a:solidFill>
                <a:latin typeface="Segoe UI"/>
              </a:defRPr>
            </a:pPr>
            <a:r>
              <a:t>Live demonstration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2823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A7B6C9"/>
                </a:solidFill>
                <a:latin typeface="Segoe UI"/>
              </a:defRPr>
            </a:pPr>
            <a:r>
              <a:t>PULSEROUTE / 28 OCTOBER 2026 / ENGINEERING CHECKPOINT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A7B6C9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60E2D2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21408"/>
            <a:ext cx="100584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EDF3F8"/>
                </a:solidFill>
                <a:latin typeface="Segoe UI"/>
              </a:defRPr>
            </a:pPr>
            <a:r>
              <a:t>Connect two peers and exchange text through a hub.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60E2D2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127248"/>
            <a:ext cx="100584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EDF3F8"/>
                </a:solidFill>
                <a:latin typeface="Segoe UI"/>
              </a:defRPr>
            </a:pPr>
            <a:r>
              <a:t>Transfer an image and video file; compare SHA-256.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062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60E2D2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133087"/>
            <a:ext cx="100584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EDF3F8"/>
                </a:solidFill>
                <a:latin typeface="Segoe UI"/>
              </a:defRPr>
            </a:pPr>
            <a:r>
              <a:t>Run both echo protocols, export data, then restart to inspect history.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